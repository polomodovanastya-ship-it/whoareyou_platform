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Проект реализации омниканального контакт-центра для компании «Дикси»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Концепция решения и архитектура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Цели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Объединить все клиентские обращения в едином окне оператора.</a:t>
            </a:r>
          </a:p>
          <a:p>
            <a:pPr lvl="0"/>
            <a:r>
              <a:rPr/>
              <a:t>Сократить время обработки обращений и повысить FCR (решение с первого контакта).</a:t>
            </a:r>
          </a:p>
          <a:p>
            <a:pPr lvl="0"/>
            <a:r>
              <a:rPr/>
              <a:t>Обеспечить персонализацию: заказы, история обращений, баллы лояльности.</a:t>
            </a:r>
          </a:p>
          <a:p>
            <a:pPr lvl="0"/>
            <a:r>
              <a:rPr/>
              <a:t>Повысить качество сервиса за счет базы знаний, подсказок и контроля качества.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Крупноблочная архитектурная схема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flowchart LR
    subgraph CH[Клиентские каналы]
      TEL[Телефон 8-800]
      TG[Telegram канал]
      TGB[Telegram чат-бот]
      VK[VK группы]
      OK[Одноклассники]
      GEO[Гео-сервисы: Яндекс/Google/2ГИС]
    end
    subgraph BOT[Сервис каналов и бот-периметр]
      SBM[Social Media Bot Service]
      IVR[IVR/голосовой робот]
    end
    subgraph CC[Платформа управления контакт-центром]
      OMNI[Omnichannel Routing]
      DESK[Agent Desktop]
      SUP[Supervisor Desktop]
      ADM[Admin Desktop]
      QA[Сервис контроля качества]
    end
    subgraph CORE[Интеграционное ядро]
      ROBOT[Робот-агрегатор внутренних данных]
      BUS[Интеграционный слой/API]
      CARD[Карточка клиента 360]
    end
    subgraph EXT[Внутренние и внешние системы]
      KBINT[Интеграция с Confluence]
      LOYINT[Интеграция с Manzana]
      KBS[Сервис базы знаний]
      MANZ[Manzana Loyalty]
      CONF[Confluence]
    end
    CH --&gt; BOT
    BOT --&gt; OMNI
    OMNI --&gt; DESK
    DESK --&gt; CARD
    SUP --&gt; QA
    ADM --&gt; OMNI
    CARD &lt;--&gt; ROBOT
    ROBOT &lt;--&gt; BUS
    BUS &lt;--&gt; KBINT
    BUS &lt;--&gt; LOYINT
    KBINT &lt;--&gt; KBS
    KBS &lt;--&gt; CONF
    LOYINT &lt;--&gt; MANZ
    DESK --&gt; KBS
    DESK --&gt; QA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Архитектурная схема из исходного вложения</a:t>
            </a:r>
          </a:p>
        </p:txBody>
      </p:sp>
      <p:pic>
        <p:nvPicPr>
          <p:cNvPr descr="omni_kc_source_sche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0" y="1193800"/>
            <a:ext cx="3543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Архитектурная схема омниканального КЦ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Блок 1. Клиентские каналы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Состав:</a:t>
            </a:r>
            <a:r>
              <a:rPr/>
              <a:t> - Телефон 8-800. - Telegram канал. - Telegram чат-бот. - Сообщества в VK и Одноклассниках. - Гео-сервисы: Яндекс Карты, Google Maps, 2ГИС.</a:t>
            </a:r>
          </a:p>
          <a:p>
            <a:pPr lvl="0" indent="0" marL="0">
              <a:buNone/>
            </a:pPr>
            <a:r>
              <a:rPr b="1"/>
              <a:t>Функциональность:</a:t>
            </a:r>
            <a:r>
              <a:rPr/>
              <a:t> - Прием обращений из всех цифровых и голосовых каналов. - Нормализация формата сообщений/событий. - Передача обращений в единый контур маршрутизации. - Сохранение контекста обращения и метаданных канала.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Блок 2. Платформа управления контакт-центром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Назначение:</a:t>
            </a:r>
            <a:r>
              <a:rPr/>
              <a:t> единая рабочая среда операторов, супервизоров и администраторов.</a:t>
            </a:r>
          </a:p>
          <a:p>
            <a:pPr lvl="0" indent="0" marL="0">
              <a:buNone/>
            </a:pPr>
            <a:r>
              <a:rPr b="1"/>
              <a:t>Функциональность:</a:t>
            </a:r>
            <a:r>
              <a:rPr/>
              <a:t> - Регистрация 100% обращений из всех каналов. - Омниканальная маршрутизация по очередям, навыкам и приоритетам. - Agent Desktop: единое окно оператора. - Подъем карточки клиента с историей заказов, предыдущих обращений и статусом лояльности. - Встроенные подсказки оператору по материалам внутренней базы знаний. - Supervisor Desktop: мониторинг SLA/KPI, контроль нагрузки и эскалации. - Admin Desktop: настройка маршрутов, прав, очередей и бизнес-правил.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Блок 3. Интеграционный слой с Базой знаний Confluence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Назначение:</a:t>
            </a:r>
            <a:r>
              <a:rPr/>
              <a:t> обеспечить операторов актуальными знаниями в момент обработки обращения.</a:t>
            </a:r>
          </a:p>
          <a:p>
            <a:pPr lvl="0" indent="0" marL="0">
              <a:buNone/>
            </a:pPr>
            <a:r>
              <a:rPr b="1"/>
              <a:t>Функциональность:</a:t>
            </a:r>
            <a:r>
              <a:rPr/>
              <a:t> - Интеграция с Confluence через API. - Индексация и обновление статей в сервисе базы знаний. - Контекстный поиск по статье/разделу/теме. - Выдача подсказок оператору в карточке обращения. - Поддержка версий, тегов, ролей доступа.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Блок 4. Интеграционный сервис с системой лояльности Manzana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Назначение:</a:t>
            </a:r>
            <a:r>
              <a:rPr/>
              <a:t> получение и использование данных лояльности в операционной работе КЦ.</a:t>
            </a:r>
          </a:p>
          <a:p>
            <a:pPr lvl="0" indent="0" marL="0">
              <a:buNone/>
            </a:pPr>
            <a:r>
              <a:rPr b="1"/>
              <a:t>Функциональность:</a:t>
            </a:r>
            <a:r>
              <a:rPr/>
              <a:t> - Запрос баланса баллов и статуса участника. - Получение истории начислений/списаний. - Проверка активных персональных предложений. - Передача результатов в карточку клиента 360. - Логирование запросов и контроль отказоустойчивости интеграции.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Блок 5. Робот-агрегатор внутренних систем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Назначение:</a:t>
            </a:r>
            <a:r>
              <a:rPr/>
              <a:t> единый механизм сборки данных клиента из разнородных источников.</a:t>
            </a:r>
          </a:p>
          <a:p>
            <a:pPr lvl="0" indent="0" marL="0">
              <a:buNone/>
            </a:pPr>
            <a:r>
              <a:rPr b="1"/>
              <a:t>Функциональность:</a:t>
            </a:r>
            <a:r>
              <a:rPr/>
              <a:t> - Оркестрация запросов к внутренним системам. - Объединение данных в единый профиль (заказы, обращения, лояльность). - Очистка/дедупликация и контроль качества данных. - Кэширование часто запрашиваемых данных. - Передача агрегированной информации в платформу управления КЦ.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Блок 6. Сервис контроля качества (супервизоры)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Назначение:</a:t>
            </a:r>
            <a:r>
              <a:rPr/>
              <a:t> контроль качества клиентского сервиса и соблюдения стандартов.</a:t>
            </a:r>
          </a:p>
          <a:p>
            <a:pPr lvl="0" indent="0" marL="0">
              <a:buNone/>
            </a:pPr>
            <a:r>
              <a:rPr b="1"/>
              <a:t>Функциональность:</a:t>
            </a:r>
            <a:r>
              <a:rPr/>
              <a:t> - Прослушивание/просмотр диалогов по всем каналам. - Оценочные формы и чек-листы качества. - Контроль SLA, AHT, FCR, CSAT/NPS. - Выявление системных ошибок и формирование корректирующих действий. - Обратная связь операторам и контроль выполнения рекомендаций.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Сквозной процесс обработки обращения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Клиент обращается через любой канал (телефон/мессенджер/соцсеть/гео-сервис).</a:t>
            </a:r>
          </a:p>
          <a:p>
            <a:pPr lvl="0" indent="-342900" marL="342900">
              <a:buAutoNum type="arabicPeriod"/>
            </a:pPr>
            <a:r>
              <a:rPr/>
              <a:t>Канальный слой и бот-сервисы нормализуют обращение.</a:t>
            </a:r>
          </a:p>
          <a:p>
            <a:pPr lvl="0" indent="-342900" marL="342900">
              <a:buAutoNum type="arabicPeriod"/>
            </a:pPr>
            <a:r>
              <a:rPr/>
              <a:t>Платформа КЦ регистрирует обращение и маршрутизирует его оператору.</a:t>
            </a:r>
          </a:p>
          <a:p>
            <a:pPr lvl="0" indent="-342900" marL="342900">
              <a:buAutoNum type="arabicPeriod"/>
            </a:pPr>
            <a:r>
              <a:rPr/>
              <a:t>Робот-агрегатор собирает данные из внутренних систем через интеграционный слой.</a:t>
            </a:r>
          </a:p>
          <a:p>
            <a:pPr lvl="0" indent="-342900" marL="342900">
              <a:buAutoNum type="arabicPeriod"/>
            </a:pPr>
            <a:r>
              <a:rPr/>
              <a:t>Оператор получает карточку 360 и подсказки из базы знаний.</a:t>
            </a:r>
          </a:p>
          <a:p>
            <a:pPr lvl="0" indent="-342900" marL="342900">
              <a:buAutoNum type="arabicPeriod"/>
            </a:pPr>
            <a:r>
              <a:rPr/>
              <a:t>В ходе диалога при необходимости подтягиваются данные лояльности Manzana.</a:t>
            </a:r>
          </a:p>
          <a:p>
            <a:pPr lvl="0" indent="-342900" marL="342900">
              <a:buAutoNum type="arabicPeriod"/>
            </a:pPr>
            <a:r>
              <a:rPr/>
              <a:t>Результат фиксируется, обращение закрывается, данные передаются в QA и аналитику.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Ожидаемые эффекты для бизнеса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Единая точка управления клиентскими коммуникациями.</a:t>
            </a:r>
          </a:p>
          <a:p>
            <a:pPr lvl="0"/>
            <a:r>
              <a:rPr/>
              <a:t>Рост скорости и качества ответов.</a:t>
            </a:r>
          </a:p>
          <a:p>
            <a:pPr lvl="0"/>
            <a:r>
              <a:rPr/>
              <a:t>Повышение удовлетворенности клиентов.</a:t>
            </a:r>
          </a:p>
          <a:p>
            <a:pPr lvl="0"/>
            <a:r>
              <a:rPr/>
              <a:t>Снижение операционных затрат за счет автоматизации и подсказок.</a:t>
            </a:r>
          </a:p>
          <a:p>
            <a:pPr lvl="0"/>
            <a:r>
              <a:rPr/>
              <a:t>Прозрачный контроль качества и управляемость KPI контакт-центра.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План внедрения (крупные этапы)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Проектирование целевой архитектуры и интеграционных контрактов.</a:t>
            </a:r>
          </a:p>
          <a:p>
            <a:pPr lvl="0" indent="-342900" marL="342900">
              <a:buAutoNum type="arabicPeriod"/>
            </a:pPr>
            <a:r>
              <a:rPr/>
              <a:t>Подключение каналов и настройка омниканальной маршрутизации.</a:t>
            </a:r>
          </a:p>
          <a:p>
            <a:pPr lvl="0" indent="-342900" marL="342900">
              <a:buAutoNum type="arabicPeriod"/>
            </a:pPr>
            <a:r>
              <a:rPr/>
              <a:t>Интеграции с Confluence и Manzana, запуск робота-агрегатора.</a:t>
            </a:r>
          </a:p>
          <a:p>
            <a:pPr lvl="0" indent="-342900" marL="342900">
              <a:buAutoNum type="arabicPeriod"/>
            </a:pPr>
            <a:r>
              <a:rPr/>
              <a:t>Пилот на ограниченной группе операторов.</a:t>
            </a:r>
          </a:p>
          <a:p>
            <a:pPr lvl="0" indent="-342900" marL="342900">
              <a:buAutoNum type="arabicPeriod"/>
            </a:pPr>
            <a:r>
              <a:rPr/>
              <a:t>Полный запуск, стабилизация, настройка KPI и QA-процессов.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Оценка годового бюджета реализации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Базовые статьи затрат (в год):</a:t>
            </a:r>
            <a:r>
              <a:rPr/>
              <a:t> - Платформа телефонии + модуль оценки качества КЦ: </a:t>
            </a:r>
            <a:r>
              <a:rPr b="1"/>
              <a:t>6 млн руб</a:t>
            </a:r>
            <a:r>
              <a:rPr/>
              <a:t>. - Робот-обработчик и нормализация обращений: </a:t>
            </a:r>
            <a:r>
              <a:rPr b="1"/>
              <a:t>25 млн руб</a:t>
            </a:r>
            <a:r>
              <a:rPr/>
              <a:t>. - Аутсорсинговый контакт-центр на 50 операторов: </a:t>
            </a:r>
            <a:r>
              <a:rPr b="1"/>
              <a:t>расчет ниже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Расчет аутсорсингового КЦ (50 операторов):</a:t>
            </a:r>
            <a:r>
              <a:rPr/>
              <a:t> - Принята средняя ставка аутсорсинга: </a:t>
            </a:r>
            <a:r>
              <a:rPr b="1"/>
              <a:t>130 000 руб / оператор / месяц</a:t>
            </a:r>
            <a:r>
              <a:rPr/>
              <a:t>. - Формула: </a:t>
            </a:r>
            <a:r>
              <a:rPr>
                <a:latin typeface="Courier"/>
              </a:rPr>
              <a:t>50 операторов × 130 000 × 12 месяцев</a:t>
            </a:r>
            <a:r>
              <a:rPr/>
              <a:t>. - Итого: </a:t>
            </a:r>
            <a:r>
              <a:rPr b="1"/>
              <a:t>78 млн руб в год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Итоговый ориентировочный бюджет решения:</a:t>
            </a:r>
            <a:r>
              <a:rPr/>
              <a:t> - </a:t>
            </a:r>
            <a:r>
              <a:rPr>
                <a:latin typeface="Courier"/>
              </a:rPr>
              <a:t>6 + 25 + 78 = 109 млн руб в год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Диапазон чувствительности (по ставке 120–150 тыс./оператор/мес.):</a:t>
            </a:r>
            <a:r>
              <a:rPr/>
              <a:t> - Нижняя граница: </a:t>
            </a:r>
            <a:r>
              <a:rPr>
                <a:latin typeface="Courier"/>
              </a:rPr>
              <a:t>50 × 120 000 × 12 = 72 млн руб/год</a:t>
            </a:r>
            <a:r>
              <a:rPr/>
              <a:t>. - Верхняя граница: </a:t>
            </a:r>
            <a:r>
              <a:rPr>
                <a:latin typeface="Courier"/>
              </a:rPr>
              <a:t>50 × 150 000 × 12 = 90 млн руб/год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2026-02-09T20:40:51Z</dcterms:created>
  <dcterms:modified xsi:type="dcterms:W3CDTF">2026-02-09T20:40:51Z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